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5" r:id="rId3"/>
    <p:sldId id="257" r:id="rId4"/>
    <p:sldId id="258" r:id="rId5"/>
    <p:sldId id="259" r:id="rId6"/>
    <p:sldId id="267" r:id="rId7"/>
    <p:sldId id="260" r:id="rId8"/>
    <p:sldId id="261" r:id="rId9"/>
    <p:sldId id="262" r:id="rId10"/>
    <p:sldId id="263" r:id="rId11"/>
    <p:sldId id="264" r:id="rId12"/>
  </p:sldIdLst>
  <p:sldSz cx="14630400" cy="8229600"/>
  <p:notesSz cx="8229600" cy="146304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bin" panose="020B0604020202020204" charset="0"/>
      <p:regular r:id="rId18"/>
    </p:embeddedFont>
    <p:embeddedFont>
      <p:font typeface="Unbounded" panose="020B0604020202020204" charset="0"/>
      <p:regular r:id="rId19"/>
    </p:embeddedFont>
  </p:embeddedFont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43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22482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817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2836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6257" y="399693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37724" y="1339453"/>
            <a:ext cx="7468553" cy="281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Commande  en environnement Hardware-in-the-Loop (HIL)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837724" y="4514493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Master 1 Système et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Microsystème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Embarqués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37724" y="5166716"/>
            <a:ext cx="7468553" cy="172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Présenté par :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	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Orchidet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Mabika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	Cheikh Ndiaye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</a:rPr>
              <a:t>	Islam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</a:rPr>
              <a:t>Bouabdellah</a:t>
            </a:r>
            <a:endParaRPr lang="en-US" sz="1850" dirty="0">
              <a:solidFill>
                <a:srgbClr val="CAD6DE"/>
              </a:solidFill>
              <a:latin typeface="Cabin" pitchFamily="34" charset="0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</a:rPr>
              <a:t>	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837724" y="7152442"/>
            <a:ext cx="7468553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Encadré par : M. Damian Sal y Rosas</a:t>
            </a:r>
            <a:endParaRPr lang="en-US" sz="1850" dirty="0"/>
          </a:p>
        </p:txBody>
      </p:sp>
      <p:pic>
        <p:nvPicPr>
          <p:cNvPr id="1030" name="Picture 6" descr="Governance - UNIVERSEH">
            <a:extLst>
              <a:ext uri="{FF2B5EF4-FFF2-40B4-BE49-F238E27FC236}">
                <a16:creationId xmlns:a16="http://schemas.microsoft.com/office/drawing/2014/main" id="{5E3819FD-0E32-4605-BA19-CDBBD8C380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8534" y="-121007"/>
            <a:ext cx="6161866" cy="20853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ZoneTexte 12">
            <a:extLst>
              <a:ext uri="{FF2B5EF4-FFF2-40B4-BE49-F238E27FC236}">
                <a16:creationId xmlns:a16="http://schemas.microsoft.com/office/drawing/2014/main" id="{C9034042-FD70-4CCB-9CD1-D2BF5C232A4C}"/>
              </a:ext>
            </a:extLst>
          </p:cNvPr>
          <p:cNvSpPr txBox="1"/>
          <p:nvPr/>
        </p:nvSpPr>
        <p:spPr>
          <a:xfrm>
            <a:off x="12591106" y="7728704"/>
            <a:ext cx="1950394" cy="38302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1236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 err="1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Contenu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563439" y="2239384"/>
            <a:ext cx="5349161" cy="49107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Contexte</a:t>
            </a: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&amp; Motivation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Objectif du </a:t>
            </a:r>
            <a:r>
              <a:rPr lang="en-US" dirty="0" err="1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projet</a:t>
            </a:r>
            <a:endParaRPr lang="en-US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Architecture du système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Système de controle - Commande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Matériels</a:t>
            </a: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et </a:t>
            </a:r>
            <a:r>
              <a:rPr lang="en-US" dirty="0" err="1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Logiciels</a:t>
            </a:r>
            <a:endParaRPr lang="en-US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Implémentation</a:t>
            </a: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STM32 – 1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Implémentation</a:t>
            </a: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STM32 – 2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Résultats</a:t>
            </a: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 </a:t>
            </a:r>
            <a:r>
              <a:rPr lang="en-US" dirty="0" err="1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Expérimentaux</a:t>
            </a:r>
            <a:endParaRPr lang="en-US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et Perspectives</a:t>
            </a:r>
          </a:p>
          <a:p>
            <a:pPr>
              <a:lnSpc>
                <a:spcPts val="2750"/>
              </a:lnSpc>
            </a:pPr>
            <a:endParaRPr lang="en-US" sz="2200" dirty="0"/>
          </a:p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>
              <a:lnSpc>
                <a:spcPts val="2750"/>
              </a:lnSpc>
            </a:pPr>
            <a:endParaRPr lang="en-US" sz="2200" dirty="0"/>
          </a:p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342900" indent="-342900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marL="342900" indent="-342900" algn="l">
              <a:lnSpc>
                <a:spcPts val="275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CAD6DE"/>
              </a:solidFill>
              <a:latin typeface="Unbounded" pitchFamily="34" charset="0"/>
              <a:ea typeface="Unbounded" pitchFamily="34" charset="-122"/>
              <a:cs typeface="Unbounded" pitchFamily="34" charset="-120"/>
            </a:endParaRPr>
          </a:p>
          <a:p>
            <a:pPr algn="l">
              <a:lnSpc>
                <a:spcPts val="2750"/>
              </a:lnSpc>
            </a:pPr>
            <a:endParaRPr lang="en-US" sz="220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00DFEA1-9DFC-46ED-9CF3-B4DBAC7CFC2E}"/>
              </a:ext>
            </a:extLst>
          </p:cNvPr>
          <p:cNvSpPr txBox="1"/>
          <p:nvPr/>
        </p:nvSpPr>
        <p:spPr>
          <a:xfrm>
            <a:off x="12591106" y="7728704"/>
            <a:ext cx="1950394" cy="38302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30F53176-0EC7-4F31-AD3B-0CFEA7BEBC43}"/>
              </a:ext>
            </a:extLst>
          </p:cNvPr>
          <p:cNvSpPr/>
          <p:nvPr/>
        </p:nvSpPr>
        <p:spPr>
          <a:xfrm>
            <a:off x="6469421" y="5244981"/>
            <a:ext cx="5349161" cy="453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50"/>
              </a:lnSpc>
            </a:pPr>
            <a:endParaRPr lang="en-US" sz="2200" dirty="0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39E86624-24B2-4B94-AFB4-722267E380BC}"/>
              </a:ext>
            </a:extLst>
          </p:cNvPr>
          <p:cNvSpPr/>
          <p:nvPr/>
        </p:nvSpPr>
        <p:spPr>
          <a:xfrm>
            <a:off x="6469421" y="3066969"/>
            <a:ext cx="5349161" cy="453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50"/>
              </a:lnSpc>
            </a:pPr>
            <a:endParaRPr lang="en-US" sz="220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A21424E-2D92-4C79-9D65-7146D794B1AA}"/>
              </a:ext>
            </a:extLst>
          </p:cNvPr>
          <p:cNvSpPr/>
          <p:nvPr/>
        </p:nvSpPr>
        <p:spPr>
          <a:xfrm>
            <a:off x="6482119" y="5839680"/>
            <a:ext cx="5349161" cy="453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750"/>
              </a:lnSpc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2579003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812363"/>
            <a:ext cx="7468553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Contexte &amp; Motivation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579370"/>
            <a:ext cx="3614618" cy="2858214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6563439" y="2818686"/>
            <a:ext cx="31359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Complexité croissante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563439" y="3666173"/>
            <a:ext cx="313598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Les systèmes électroniques modernes nécessitent des tests approfondis avant déploiement.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10178058" y="2579370"/>
            <a:ext cx="3614618" cy="2858214"/>
          </a:xfrm>
          <a:prstGeom prst="roundRect">
            <a:avLst>
              <a:gd name="adj" fmla="val 1256"/>
            </a:avLst>
          </a:prstGeom>
          <a:solidFill>
            <a:srgbClr val="304755"/>
          </a:solidFill>
          <a:ln/>
        </p:spPr>
      </p:sp>
      <p:sp>
        <p:nvSpPr>
          <p:cNvPr id="8" name="Text 5"/>
          <p:cNvSpPr/>
          <p:nvPr/>
        </p:nvSpPr>
        <p:spPr>
          <a:xfrm>
            <a:off x="10417373" y="2818686"/>
            <a:ext cx="31359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Réduction des risques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417373" y="3666173"/>
            <a:ext cx="3135987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 HIL permet de tester des commandes sur des modèles virtuels sans endommager le matériel réel.</a:t>
            </a:r>
            <a:endParaRPr lang="en-US" sz="1850" dirty="0"/>
          </a:p>
        </p:txBody>
      </p:sp>
      <p:sp>
        <p:nvSpPr>
          <p:cNvPr id="10" name="Shape 7"/>
          <p:cNvSpPr/>
          <p:nvPr/>
        </p:nvSpPr>
        <p:spPr>
          <a:xfrm>
            <a:off x="6324124" y="5676900"/>
            <a:ext cx="7468553" cy="1740218"/>
          </a:xfrm>
          <a:prstGeom prst="roundRect">
            <a:avLst>
              <a:gd name="adj" fmla="val 2063"/>
            </a:avLst>
          </a:prstGeom>
          <a:solidFill>
            <a:srgbClr val="304755"/>
          </a:solidFill>
          <a:ln/>
        </p:spPr>
      </p:sp>
      <p:sp>
        <p:nvSpPr>
          <p:cNvPr id="11" name="Text 8"/>
          <p:cNvSpPr/>
          <p:nvPr/>
        </p:nvSpPr>
        <p:spPr>
          <a:xfrm>
            <a:off x="6563439" y="5916216"/>
            <a:ext cx="414492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Transition technologique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6563439" y="6411754"/>
            <a:ext cx="6989921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Migration progressive d'un système simplifié vers une plateforme HIL industrielle.</a:t>
            </a:r>
            <a:endParaRPr lang="en-US" sz="1850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00DFEA1-9DFC-46ED-9CF3-B4DBAC7CFC2E}"/>
              </a:ext>
            </a:extLst>
          </p:cNvPr>
          <p:cNvSpPr txBox="1"/>
          <p:nvPr/>
        </p:nvSpPr>
        <p:spPr>
          <a:xfrm>
            <a:off x="12591106" y="7728704"/>
            <a:ext cx="1950394" cy="38302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427798"/>
            <a:ext cx="6229231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Objectifs du Projet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7638" y="2610564"/>
            <a:ext cx="2137529" cy="135719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7988" y="3246358"/>
            <a:ext cx="336590" cy="42076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384482" y="2849880"/>
            <a:ext cx="275748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Objectif final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5384482" y="3345418"/>
            <a:ext cx="275748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Migration vers Typhoon HIL</a:t>
            </a:r>
            <a:endParaRPr lang="en-US" sz="1850" dirty="0"/>
          </a:p>
        </p:txBody>
      </p:sp>
      <p:sp>
        <p:nvSpPr>
          <p:cNvPr id="7" name="Shape 3"/>
          <p:cNvSpPr/>
          <p:nvPr/>
        </p:nvSpPr>
        <p:spPr>
          <a:xfrm>
            <a:off x="5204936" y="3982402"/>
            <a:ext cx="8527971" cy="15240"/>
          </a:xfrm>
          <a:prstGeom prst="roundRect">
            <a:avLst>
              <a:gd name="adj" fmla="val 235611"/>
            </a:avLst>
          </a:prstGeom>
          <a:solidFill>
            <a:srgbClr val="49606E"/>
          </a:solidFill>
          <a:ln/>
        </p:spPr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38814" y="4027527"/>
            <a:ext cx="4275058" cy="1357193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07988" y="4495681"/>
            <a:ext cx="336590" cy="420767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6453187" y="4266843"/>
            <a:ext cx="364355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Objectif intermédiaire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6453187" y="4762381"/>
            <a:ext cx="364355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Validation du système simplifié</a:t>
            </a:r>
            <a:endParaRPr lang="en-US" sz="1850" dirty="0"/>
          </a:p>
        </p:txBody>
      </p:sp>
      <p:sp>
        <p:nvSpPr>
          <p:cNvPr id="12" name="Shape 6"/>
          <p:cNvSpPr/>
          <p:nvPr/>
        </p:nvSpPr>
        <p:spPr>
          <a:xfrm>
            <a:off x="6273641" y="5399365"/>
            <a:ext cx="7459266" cy="15240"/>
          </a:xfrm>
          <a:prstGeom prst="roundRect">
            <a:avLst>
              <a:gd name="adj" fmla="val 235611"/>
            </a:avLst>
          </a:prstGeom>
          <a:solidFill>
            <a:srgbClr val="49606E"/>
          </a:solidFill>
          <a:ln/>
        </p:spPr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109" y="5444490"/>
            <a:ext cx="6412587" cy="1357193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8107" y="5912644"/>
            <a:ext cx="336590" cy="420767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7522012" y="5683806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Objectif initial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522012" y="6179344"/>
            <a:ext cx="4806196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Développement du prototype STM32+LabVIEW</a:t>
            </a:r>
            <a:endParaRPr lang="en-US" sz="185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16E23CB-90A1-4519-A715-D3ADA384CFE4}"/>
              </a:ext>
            </a:extLst>
          </p:cNvPr>
          <p:cNvSpPr txBox="1"/>
          <p:nvPr/>
        </p:nvSpPr>
        <p:spPr>
          <a:xfrm>
            <a:off x="12591106" y="7728704"/>
            <a:ext cx="1950394" cy="38302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>
            <a:off x="-75209" y="0"/>
            <a:ext cx="105753" cy="8231505"/>
          </a:xfrm>
          <a:prstGeom prst="rect">
            <a:avLst/>
          </a:prstGeom>
          <a:solidFill>
            <a:srgbClr val="030314"/>
          </a:solidFill>
          <a:ln/>
        </p:spPr>
      </p:sp>
      <p:sp>
        <p:nvSpPr>
          <p:cNvPr id="4" name="Text 1"/>
          <p:cNvSpPr/>
          <p:nvPr/>
        </p:nvSpPr>
        <p:spPr>
          <a:xfrm>
            <a:off x="756702" y="620316"/>
            <a:ext cx="13116996" cy="13268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Architecture du Système</a:t>
            </a:r>
            <a:endParaRPr lang="en-US" sz="4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637" y="1652155"/>
            <a:ext cx="670191" cy="17752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807367" y="1805227"/>
            <a:ext cx="3192185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Micro 1 (Commande)</a:t>
            </a:r>
            <a:endParaRPr lang="en-US" sz="2050" dirty="0"/>
          </a:p>
        </p:txBody>
      </p:sp>
      <p:sp>
        <p:nvSpPr>
          <p:cNvPr id="7" name="Text 3"/>
          <p:cNvSpPr/>
          <p:nvPr/>
        </p:nvSpPr>
        <p:spPr>
          <a:xfrm>
            <a:off x="1807367" y="2290405"/>
            <a:ext cx="6098738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Génération des signaux PWM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1807367" y="2709124"/>
            <a:ext cx="6098738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Traitement des données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785" y="1754306"/>
            <a:ext cx="670191" cy="177522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9578" y="1805227"/>
            <a:ext cx="3026807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Micro 2 (Émulation)</a:t>
            </a:r>
            <a:endParaRPr lang="en-US" sz="2050" dirty="0"/>
          </a:p>
        </p:txBody>
      </p:sp>
      <p:sp>
        <p:nvSpPr>
          <p:cNvPr id="11" name="Text 6"/>
          <p:cNvSpPr/>
          <p:nvPr/>
        </p:nvSpPr>
        <p:spPr>
          <a:xfrm>
            <a:off x="5939716" y="2261903"/>
            <a:ext cx="6098738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Simulation du système physique</a:t>
            </a:r>
            <a:endParaRPr lang="en-US" sz="1750" dirty="0"/>
          </a:p>
        </p:txBody>
      </p:sp>
      <p:sp>
        <p:nvSpPr>
          <p:cNvPr id="12" name="Text 7"/>
          <p:cNvSpPr/>
          <p:nvPr/>
        </p:nvSpPr>
        <p:spPr>
          <a:xfrm>
            <a:off x="6006515" y="2760306"/>
            <a:ext cx="6098738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Conversion des signaux</a:t>
            </a:r>
            <a:endParaRPr lang="en-US" sz="17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2199" y="1584240"/>
            <a:ext cx="670191" cy="177522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958204" y="1718605"/>
            <a:ext cx="2654022" cy="331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LabVIEW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9983604" y="2162097"/>
            <a:ext cx="6098738" cy="360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Interface utilisateur</a:t>
            </a:r>
            <a:endParaRPr lang="en-US" sz="1750" dirty="0"/>
          </a:p>
        </p:txBody>
      </p:sp>
      <p:sp>
        <p:nvSpPr>
          <p:cNvPr id="16" name="Text 10"/>
          <p:cNvSpPr/>
          <p:nvPr/>
        </p:nvSpPr>
        <p:spPr>
          <a:xfrm>
            <a:off x="9978519" y="2698413"/>
            <a:ext cx="4728081" cy="6601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Visualisation  et simulation d’un modèle</a:t>
            </a:r>
            <a:endParaRPr lang="en-US" sz="1750" dirty="0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83BE298-B62C-4F33-82C6-D2F7200837AE}"/>
              </a:ext>
            </a:extLst>
          </p:cNvPr>
          <p:cNvSpPr txBox="1"/>
          <p:nvPr/>
        </p:nvSpPr>
        <p:spPr>
          <a:xfrm>
            <a:off x="12591106" y="7728704"/>
            <a:ext cx="1950394" cy="38302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F16150B-FEE3-4CA0-B412-EE57B0E294A4}"/>
              </a:ext>
            </a:extLst>
          </p:cNvPr>
          <p:cNvSpPr txBox="1"/>
          <p:nvPr/>
        </p:nvSpPr>
        <p:spPr>
          <a:xfrm>
            <a:off x="1391087" y="4546775"/>
            <a:ext cx="23908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Modèle mathématique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ABBC208F-5ADB-4069-A1DD-7EBEF94FA236}"/>
              </a:ext>
            </a:extLst>
          </p:cNvPr>
          <p:cNvSpPr txBox="1"/>
          <p:nvPr/>
        </p:nvSpPr>
        <p:spPr>
          <a:xfrm>
            <a:off x="5841414" y="4557705"/>
            <a:ext cx="25913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Conversion numérique/analogique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E0F5C20-EDDE-4340-81D5-B34902697E16}"/>
              </a:ext>
            </a:extLst>
          </p:cNvPr>
          <p:cNvSpPr txBox="1"/>
          <p:nvPr/>
        </p:nvSpPr>
        <p:spPr>
          <a:xfrm>
            <a:off x="10200270" y="4511538"/>
            <a:ext cx="23908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dirty="0">
                <a:solidFill>
                  <a:schemeClr val="bg1"/>
                </a:solidFill>
              </a:rPr>
              <a:t>Contrôleur</a:t>
            </a:r>
          </a:p>
        </p:txBody>
      </p:sp>
      <p:pic>
        <p:nvPicPr>
          <p:cNvPr id="26" name="Image 25">
            <a:extLst>
              <a:ext uri="{FF2B5EF4-FFF2-40B4-BE49-F238E27FC236}">
                <a16:creationId xmlns:a16="http://schemas.microsoft.com/office/drawing/2014/main" id="{F655FD52-CB44-491C-AB6A-97E7D38A2B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37" y="5486812"/>
            <a:ext cx="11724736" cy="21959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174CF04-6650-4F0D-A160-04C5D41152FC}"/>
              </a:ext>
            </a:extLst>
          </p:cNvPr>
          <p:cNvSpPr/>
          <p:nvPr/>
        </p:nvSpPr>
        <p:spPr>
          <a:xfrm>
            <a:off x="1313593" y="3548946"/>
            <a:ext cx="2076226" cy="16674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0ED533-30F0-4585-BE12-43889F1F4B90}"/>
              </a:ext>
            </a:extLst>
          </p:cNvPr>
          <p:cNvSpPr/>
          <p:nvPr/>
        </p:nvSpPr>
        <p:spPr>
          <a:xfrm>
            <a:off x="5919658" y="3548946"/>
            <a:ext cx="2076226" cy="1667436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fr-FR" dirty="0">
              <a:solidFill>
                <a:schemeClr val="bg1"/>
              </a:solidFill>
            </a:endParaRP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209455DB-2E70-4CB8-8CF2-7E285ED57519}"/>
              </a:ext>
            </a:extLst>
          </p:cNvPr>
          <p:cNvCxnSpPr/>
          <p:nvPr/>
        </p:nvCxnSpPr>
        <p:spPr>
          <a:xfrm flipH="1">
            <a:off x="3389819" y="4119102"/>
            <a:ext cx="25298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necteur droit avec flèche 4">
            <a:extLst>
              <a:ext uri="{FF2B5EF4-FFF2-40B4-BE49-F238E27FC236}">
                <a16:creationId xmlns:a16="http://schemas.microsoft.com/office/drawing/2014/main" id="{8954D382-6CD1-4D9B-B055-9C11A248F88B}"/>
              </a:ext>
            </a:extLst>
          </p:cNvPr>
          <p:cNvCxnSpPr/>
          <p:nvPr/>
        </p:nvCxnSpPr>
        <p:spPr>
          <a:xfrm>
            <a:off x="3389819" y="4866758"/>
            <a:ext cx="252983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7" name="Connecteur droit avec flèche 6">
            <a:extLst>
              <a:ext uri="{FF2B5EF4-FFF2-40B4-BE49-F238E27FC236}">
                <a16:creationId xmlns:a16="http://schemas.microsoft.com/office/drawing/2014/main" id="{E6FE3943-FF64-4A62-9161-0B1AAF1E95E8}"/>
              </a:ext>
            </a:extLst>
          </p:cNvPr>
          <p:cNvCxnSpPr>
            <a:cxnSpLocks/>
          </p:cNvCxnSpPr>
          <p:nvPr/>
        </p:nvCxnSpPr>
        <p:spPr>
          <a:xfrm flipH="1" flipV="1">
            <a:off x="8008124" y="4182957"/>
            <a:ext cx="2242444" cy="14773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8" name="ZoneTexte 7">
            <a:extLst>
              <a:ext uri="{FF2B5EF4-FFF2-40B4-BE49-F238E27FC236}">
                <a16:creationId xmlns:a16="http://schemas.microsoft.com/office/drawing/2014/main" id="{7327D4D3-45AF-4B7C-BE32-C02A1423A02B}"/>
              </a:ext>
            </a:extLst>
          </p:cNvPr>
          <p:cNvSpPr txBox="1"/>
          <p:nvPr/>
        </p:nvSpPr>
        <p:spPr>
          <a:xfrm>
            <a:off x="2633200" y="3995410"/>
            <a:ext cx="925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ADC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783D460-0159-471E-A316-439066AA23F4}"/>
              </a:ext>
            </a:extLst>
          </p:cNvPr>
          <p:cNvSpPr txBox="1"/>
          <p:nvPr/>
        </p:nvSpPr>
        <p:spPr>
          <a:xfrm>
            <a:off x="2593750" y="4682092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TIMR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F51E8DD-3A4A-41EA-A958-8C9A379F830E}"/>
              </a:ext>
            </a:extLst>
          </p:cNvPr>
          <p:cNvSpPr txBox="1"/>
          <p:nvPr/>
        </p:nvSpPr>
        <p:spPr>
          <a:xfrm>
            <a:off x="5995858" y="3930853"/>
            <a:ext cx="742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DAC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778DFD3-60A7-40CA-9707-4C92AA0D5CB1}"/>
              </a:ext>
            </a:extLst>
          </p:cNvPr>
          <p:cNvSpPr txBox="1"/>
          <p:nvPr/>
        </p:nvSpPr>
        <p:spPr>
          <a:xfrm>
            <a:off x="5999443" y="4655198"/>
            <a:ext cx="7386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TIMR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59B9EB2-DD3E-4843-B245-673F0B6AF2C3}"/>
              </a:ext>
            </a:extLst>
          </p:cNvPr>
          <p:cNvSpPr txBox="1"/>
          <p:nvPr/>
        </p:nvSpPr>
        <p:spPr>
          <a:xfrm>
            <a:off x="10674930" y="3916938"/>
            <a:ext cx="606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Tx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736911F-BF7B-4205-A761-E81076CBE7D0}"/>
              </a:ext>
            </a:extLst>
          </p:cNvPr>
          <p:cNvSpPr txBox="1"/>
          <p:nvPr/>
        </p:nvSpPr>
        <p:spPr>
          <a:xfrm>
            <a:off x="10674930" y="4546507"/>
            <a:ext cx="7135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Rx</a:t>
            </a:r>
            <a:endParaRPr lang="fr-FR" dirty="0">
              <a:solidFill>
                <a:schemeClr val="bg1"/>
              </a:solidFill>
            </a:endParaRPr>
          </a:p>
        </p:txBody>
      </p:sp>
      <p:grpSp>
        <p:nvGrpSpPr>
          <p:cNvPr id="14" name="Google Shape;9948;p85">
            <a:extLst>
              <a:ext uri="{FF2B5EF4-FFF2-40B4-BE49-F238E27FC236}">
                <a16:creationId xmlns:a16="http://schemas.microsoft.com/office/drawing/2014/main" id="{88747E9E-B51E-4ED3-954B-E4494F3437A7}"/>
              </a:ext>
            </a:extLst>
          </p:cNvPr>
          <p:cNvGrpSpPr/>
          <p:nvPr/>
        </p:nvGrpSpPr>
        <p:grpSpPr>
          <a:xfrm>
            <a:off x="10149206" y="3671143"/>
            <a:ext cx="2707343" cy="2120059"/>
            <a:chOff x="2567841" y="1994124"/>
            <a:chExt cx="399812" cy="306477"/>
          </a:xfrm>
        </p:grpSpPr>
        <p:sp>
          <p:nvSpPr>
            <p:cNvPr id="15" name="Google Shape;9949;p85">
              <a:extLst>
                <a:ext uri="{FF2B5EF4-FFF2-40B4-BE49-F238E27FC236}">
                  <a16:creationId xmlns:a16="http://schemas.microsoft.com/office/drawing/2014/main" id="{7361C955-3099-4C64-BD91-AA4E2816B002}"/>
                </a:ext>
              </a:extLst>
            </p:cNvPr>
            <p:cNvSpPr/>
            <p:nvPr/>
          </p:nvSpPr>
          <p:spPr>
            <a:xfrm>
              <a:off x="2567841" y="1994124"/>
              <a:ext cx="399812" cy="306477"/>
            </a:xfrm>
            <a:custGeom>
              <a:avLst/>
              <a:gdLst/>
              <a:ahLst/>
              <a:cxnLst/>
              <a:rect l="l" t="t" r="r" b="b"/>
              <a:pathLst>
                <a:path w="12551" h="9621" extrusionOk="0">
                  <a:moveTo>
                    <a:pt x="11157" y="346"/>
                  </a:moveTo>
                  <a:lnTo>
                    <a:pt x="11157" y="6584"/>
                  </a:lnTo>
                  <a:lnTo>
                    <a:pt x="1334" y="6584"/>
                  </a:lnTo>
                  <a:lnTo>
                    <a:pt x="1334" y="346"/>
                  </a:lnTo>
                  <a:close/>
                  <a:moveTo>
                    <a:pt x="7442" y="7930"/>
                  </a:moveTo>
                  <a:lnTo>
                    <a:pt x="7621" y="8561"/>
                  </a:lnTo>
                  <a:lnTo>
                    <a:pt x="4859" y="8561"/>
                  </a:lnTo>
                  <a:lnTo>
                    <a:pt x="5037" y="7930"/>
                  </a:lnTo>
                  <a:close/>
                  <a:moveTo>
                    <a:pt x="11217" y="6954"/>
                  </a:moveTo>
                  <a:lnTo>
                    <a:pt x="12038" y="8561"/>
                  </a:lnTo>
                  <a:lnTo>
                    <a:pt x="7990" y="8561"/>
                  </a:lnTo>
                  <a:lnTo>
                    <a:pt x="7776" y="7835"/>
                  </a:lnTo>
                  <a:cubicBezTo>
                    <a:pt x="7740" y="7680"/>
                    <a:pt x="7597" y="7573"/>
                    <a:pt x="7454" y="7573"/>
                  </a:cubicBezTo>
                  <a:lnTo>
                    <a:pt x="5013" y="7573"/>
                  </a:lnTo>
                  <a:cubicBezTo>
                    <a:pt x="4859" y="7573"/>
                    <a:pt x="4716" y="7680"/>
                    <a:pt x="4680" y="7835"/>
                  </a:cubicBezTo>
                  <a:lnTo>
                    <a:pt x="4478" y="8561"/>
                  </a:lnTo>
                  <a:lnTo>
                    <a:pt x="430" y="8561"/>
                  </a:lnTo>
                  <a:lnTo>
                    <a:pt x="1263" y="6954"/>
                  </a:lnTo>
                  <a:close/>
                  <a:moveTo>
                    <a:pt x="12157" y="8930"/>
                  </a:moveTo>
                  <a:lnTo>
                    <a:pt x="12157" y="9216"/>
                  </a:lnTo>
                  <a:lnTo>
                    <a:pt x="12169" y="9216"/>
                  </a:lnTo>
                  <a:cubicBezTo>
                    <a:pt x="12169" y="9239"/>
                    <a:pt x="12145" y="9275"/>
                    <a:pt x="12110" y="9275"/>
                  </a:cubicBezTo>
                  <a:lnTo>
                    <a:pt x="382" y="9275"/>
                  </a:lnTo>
                  <a:cubicBezTo>
                    <a:pt x="346" y="9275"/>
                    <a:pt x="322" y="9239"/>
                    <a:pt x="322" y="9216"/>
                  </a:cubicBezTo>
                  <a:lnTo>
                    <a:pt x="322" y="8930"/>
                  </a:lnTo>
                  <a:close/>
                  <a:moveTo>
                    <a:pt x="1334" y="0"/>
                  </a:moveTo>
                  <a:cubicBezTo>
                    <a:pt x="1144" y="0"/>
                    <a:pt x="977" y="167"/>
                    <a:pt x="977" y="357"/>
                  </a:cubicBezTo>
                  <a:lnTo>
                    <a:pt x="977" y="6739"/>
                  </a:lnTo>
                  <a:lnTo>
                    <a:pt x="1" y="8680"/>
                  </a:lnTo>
                  <a:lnTo>
                    <a:pt x="1" y="8692"/>
                  </a:lnTo>
                  <a:lnTo>
                    <a:pt x="1" y="8704"/>
                  </a:lnTo>
                  <a:lnTo>
                    <a:pt x="1" y="8728"/>
                  </a:lnTo>
                  <a:lnTo>
                    <a:pt x="1" y="8739"/>
                  </a:lnTo>
                  <a:lnTo>
                    <a:pt x="1" y="9204"/>
                  </a:lnTo>
                  <a:cubicBezTo>
                    <a:pt x="1" y="9442"/>
                    <a:pt x="191" y="9620"/>
                    <a:pt x="406" y="9620"/>
                  </a:cubicBezTo>
                  <a:lnTo>
                    <a:pt x="12133" y="9620"/>
                  </a:lnTo>
                  <a:cubicBezTo>
                    <a:pt x="12371" y="9620"/>
                    <a:pt x="12550" y="9418"/>
                    <a:pt x="12550" y="9204"/>
                  </a:cubicBezTo>
                  <a:lnTo>
                    <a:pt x="12526" y="8739"/>
                  </a:lnTo>
                  <a:lnTo>
                    <a:pt x="12526" y="8704"/>
                  </a:lnTo>
                  <a:lnTo>
                    <a:pt x="12526" y="8692"/>
                  </a:lnTo>
                  <a:lnTo>
                    <a:pt x="12526" y="8680"/>
                  </a:lnTo>
                  <a:lnTo>
                    <a:pt x="11550" y="6739"/>
                  </a:lnTo>
                  <a:lnTo>
                    <a:pt x="11550" y="357"/>
                  </a:lnTo>
                  <a:cubicBezTo>
                    <a:pt x="11550" y="167"/>
                    <a:pt x="11383" y="0"/>
                    <a:pt x="11193" y="0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6" name="Google Shape;9950;p85">
              <a:extLst>
                <a:ext uri="{FF2B5EF4-FFF2-40B4-BE49-F238E27FC236}">
                  <a16:creationId xmlns:a16="http://schemas.microsoft.com/office/drawing/2014/main" id="{45C43CEA-1996-4734-BED0-C31DE866A3E4}"/>
                </a:ext>
              </a:extLst>
            </p:cNvPr>
            <p:cNvSpPr/>
            <p:nvPr/>
          </p:nvSpPr>
          <p:spPr>
            <a:xfrm>
              <a:off x="2623237" y="2113963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179" y="1"/>
                  </a:moveTo>
                  <a:cubicBezTo>
                    <a:pt x="72" y="1"/>
                    <a:pt x="0" y="96"/>
                    <a:pt x="0" y="179"/>
                  </a:cubicBezTo>
                  <a:lnTo>
                    <a:pt x="0" y="2132"/>
                  </a:lnTo>
                  <a:cubicBezTo>
                    <a:pt x="0" y="2299"/>
                    <a:pt x="131" y="2418"/>
                    <a:pt x="274" y="2418"/>
                  </a:cubicBezTo>
                  <a:lnTo>
                    <a:pt x="8727" y="2418"/>
                  </a:lnTo>
                  <a:cubicBezTo>
                    <a:pt x="8894" y="2418"/>
                    <a:pt x="9013" y="2287"/>
                    <a:pt x="9013" y="2132"/>
                  </a:cubicBezTo>
                  <a:lnTo>
                    <a:pt x="9013" y="179"/>
                  </a:lnTo>
                  <a:cubicBezTo>
                    <a:pt x="9025" y="96"/>
                    <a:pt x="8942" y="1"/>
                    <a:pt x="8835" y="1"/>
                  </a:cubicBezTo>
                  <a:cubicBezTo>
                    <a:pt x="8727" y="1"/>
                    <a:pt x="8656" y="96"/>
                    <a:pt x="8656" y="179"/>
                  </a:cubicBezTo>
                  <a:lnTo>
                    <a:pt x="8656" y="2049"/>
                  </a:lnTo>
                  <a:lnTo>
                    <a:pt x="357" y="2049"/>
                  </a:lnTo>
                  <a:lnTo>
                    <a:pt x="357" y="179"/>
                  </a:lnTo>
                  <a:cubicBezTo>
                    <a:pt x="357" y="84"/>
                    <a:pt x="262" y="1"/>
                    <a:pt x="179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  <p:sp>
          <p:nvSpPr>
            <p:cNvPr id="17" name="Google Shape;9951;p85">
              <a:extLst>
                <a:ext uri="{FF2B5EF4-FFF2-40B4-BE49-F238E27FC236}">
                  <a16:creationId xmlns:a16="http://schemas.microsoft.com/office/drawing/2014/main" id="{87D7A783-0742-43D1-829C-93A4579EEBAC}"/>
                </a:ext>
              </a:extLst>
            </p:cNvPr>
            <p:cNvSpPr/>
            <p:nvPr/>
          </p:nvSpPr>
          <p:spPr>
            <a:xfrm>
              <a:off x="2623237" y="2017251"/>
              <a:ext cx="287523" cy="77025"/>
            </a:xfrm>
            <a:custGeom>
              <a:avLst/>
              <a:gdLst/>
              <a:ahLst/>
              <a:cxnLst/>
              <a:rect l="l" t="t" r="r" b="b"/>
              <a:pathLst>
                <a:path w="9026" h="2418" extrusionOk="0">
                  <a:moveTo>
                    <a:pt x="286" y="1"/>
                  </a:moveTo>
                  <a:cubicBezTo>
                    <a:pt x="119" y="1"/>
                    <a:pt x="0" y="143"/>
                    <a:pt x="0" y="286"/>
                  </a:cubicBezTo>
                  <a:lnTo>
                    <a:pt x="0" y="2239"/>
                  </a:lnTo>
                  <a:cubicBezTo>
                    <a:pt x="0" y="2346"/>
                    <a:pt x="84" y="2418"/>
                    <a:pt x="179" y="2418"/>
                  </a:cubicBezTo>
                  <a:cubicBezTo>
                    <a:pt x="286" y="2418"/>
                    <a:pt x="357" y="2322"/>
                    <a:pt x="357" y="2239"/>
                  </a:cubicBezTo>
                  <a:lnTo>
                    <a:pt x="357" y="382"/>
                  </a:lnTo>
                  <a:lnTo>
                    <a:pt x="8656" y="382"/>
                  </a:lnTo>
                  <a:lnTo>
                    <a:pt x="8656" y="2239"/>
                  </a:lnTo>
                  <a:cubicBezTo>
                    <a:pt x="8656" y="2346"/>
                    <a:pt x="8751" y="2418"/>
                    <a:pt x="8835" y="2418"/>
                  </a:cubicBezTo>
                  <a:cubicBezTo>
                    <a:pt x="8942" y="2418"/>
                    <a:pt x="9013" y="2322"/>
                    <a:pt x="9013" y="2239"/>
                  </a:cubicBezTo>
                  <a:lnTo>
                    <a:pt x="9013" y="286"/>
                  </a:lnTo>
                  <a:cubicBezTo>
                    <a:pt x="9025" y="143"/>
                    <a:pt x="8894" y="1"/>
                    <a:pt x="8727" y="1"/>
                  </a:cubicBezTo>
                  <a:close/>
                </a:path>
              </a:pathLst>
            </a:custGeom>
            <a:solidFill>
              <a:srgbClr val="657E9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1"/>
                </a:solidFill>
              </a:endParaRPr>
            </a:p>
          </p:txBody>
        </p:sp>
      </p:grpSp>
      <p:cxnSp>
        <p:nvCxnSpPr>
          <p:cNvPr id="18" name="Connecteur : en arc 17">
            <a:extLst>
              <a:ext uri="{FF2B5EF4-FFF2-40B4-BE49-F238E27FC236}">
                <a16:creationId xmlns:a16="http://schemas.microsoft.com/office/drawing/2014/main" id="{9B24785C-E9AA-45F0-B96B-532CEB5FE614}"/>
              </a:ext>
            </a:extLst>
          </p:cNvPr>
          <p:cNvCxnSpPr>
            <a:cxnSpLocks/>
            <a:stCxn id="2" idx="0"/>
            <a:endCxn id="3" idx="0"/>
          </p:cNvCxnSpPr>
          <p:nvPr/>
        </p:nvCxnSpPr>
        <p:spPr>
          <a:xfrm rot="5400000" flipH="1" flipV="1">
            <a:off x="4654738" y="1245914"/>
            <a:ext cx="12700" cy="4606065"/>
          </a:xfrm>
          <a:prstGeom prst="curvedConnector3">
            <a:avLst>
              <a:gd name="adj1" fmla="val 7814102"/>
            </a:avLst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9" name="ZoneTexte 18">
            <a:extLst>
              <a:ext uri="{FF2B5EF4-FFF2-40B4-BE49-F238E27FC236}">
                <a16:creationId xmlns:a16="http://schemas.microsoft.com/office/drawing/2014/main" id="{C100B7B2-7A1E-45CA-9B8E-EF6D5C216C5E}"/>
              </a:ext>
            </a:extLst>
          </p:cNvPr>
          <p:cNvSpPr txBox="1"/>
          <p:nvPr/>
        </p:nvSpPr>
        <p:spPr>
          <a:xfrm>
            <a:off x="7540868" y="3925114"/>
            <a:ext cx="455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Rx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22CEC8A1-2897-4604-9B88-3243348B526F}"/>
              </a:ext>
            </a:extLst>
          </p:cNvPr>
          <p:cNvSpPr txBox="1"/>
          <p:nvPr/>
        </p:nvSpPr>
        <p:spPr>
          <a:xfrm>
            <a:off x="7540868" y="4655198"/>
            <a:ext cx="430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 err="1">
                <a:solidFill>
                  <a:schemeClr val="bg1"/>
                </a:solidFill>
              </a:rPr>
              <a:t>Tx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5F23BC7-63C9-4B1E-97E7-C0AED7A466B3}"/>
              </a:ext>
            </a:extLst>
          </p:cNvPr>
          <p:cNvSpPr txBox="1"/>
          <p:nvPr/>
        </p:nvSpPr>
        <p:spPr>
          <a:xfrm>
            <a:off x="10299814" y="2909291"/>
            <a:ext cx="28256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Modèle mathématique</a:t>
            </a:r>
          </a:p>
          <a:p>
            <a:r>
              <a:rPr lang="fr-FR" dirty="0">
                <a:solidFill>
                  <a:schemeClr val="bg1"/>
                </a:solidFill>
              </a:rPr>
              <a:t> y=ax+b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7BB0FC7-A876-4078-BED6-3BBE429B0D9A}"/>
              </a:ext>
            </a:extLst>
          </p:cNvPr>
          <p:cNvSpPr txBox="1"/>
          <p:nvPr/>
        </p:nvSpPr>
        <p:spPr>
          <a:xfrm>
            <a:off x="8669801" y="3789085"/>
            <a:ext cx="1479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UART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ECBF85-6B96-4886-81D1-B628227E10C5}"/>
              </a:ext>
            </a:extLst>
          </p:cNvPr>
          <p:cNvSpPr txBox="1"/>
          <p:nvPr/>
        </p:nvSpPr>
        <p:spPr>
          <a:xfrm>
            <a:off x="8631482" y="4567062"/>
            <a:ext cx="11840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UART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7B6CA52-F3D0-4E2E-9ECD-FD153F71D387}"/>
              </a:ext>
            </a:extLst>
          </p:cNvPr>
          <p:cNvSpPr txBox="1"/>
          <p:nvPr/>
        </p:nvSpPr>
        <p:spPr>
          <a:xfrm>
            <a:off x="1474958" y="5405042"/>
            <a:ext cx="1796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Micro1 - STM32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0DC4361-D81D-4502-9119-5DA0D181A43B}"/>
              </a:ext>
            </a:extLst>
          </p:cNvPr>
          <p:cNvSpPr txBox="1"/>
          <p:nvPr/>
        </p:nvSpPr>
        <p:spPr>
          <a:xfrm>
            <a:off x="6027231" y="5405042"/>
            <a:ext cx="1624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 Micro2-STM32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BC3DA061-D939-4F2D-8699-6D5C35BF6B3B}"/>
              </a:ext>
            </a:extLst>
          </p:cNvPr>
          <p:cNvSpPr txBox="1"/>
          <p:nvPr/>
        </p:nvSpPr>
        <p:spPr>
          <a:xfrm>
            <a:off x="4099430" y="4492551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PWM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E8763A85-D570-4CCB-86F9-45273E95424E}"/>
              </a:ext>
            </a:extLst>
          </p:cNvPr>
          <p:cNvSpPr txBox="1"/>
          <p:nvPr/>
        </p:nvSpPr>
        <p:spPr>
          <a:xfrm>
            <a:off x="3961140" y="3496597"/>
            <a:ext cx="18072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SIGNAL ANALOGIQUE</a:t>
            </a:r>
          </a:p>
        </p:txBody>
      </p:sp>
      <p:pic>
        <p:nvPicPr>
          <p:cNvPr id="35" name="Image 34">
            <a:extLst>
              <a:ext uri="{FF2B5EF4-FFF2-40B4-BE49-F238E27FC236}">
                <a16:creationId xmlns:a16="http://schemas.microsoft.com/office/drawing/2014/main" id="{6D3BC9F1-8E90-4405-BAD3-7398037708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920" y="6242030"/>
            <a:ext cx="2324157" cy="916590"/>
          </a:xfrm>
          <a:prstGeom prst="rect">
            <a:avLst/>
          </a:prstGeom>
        </p:spPr>
      </p:pic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0D3006B4-497A-4850-AAA3-995699C7C3FA}"/>
              </a:ext>
            </a:extLst>
          </p:cNvPr>
          <p:cNvCxnSpPr>
            <a:cxnSpLocks/>
          </p:cNvCxnSpPr>
          <p:nvPr/>
        </p:nvCxnSpPr>
        <p:spPr>
          <a:xfrm>
            <a:off x="4648070" y="4936394"/>
            <a:ext cx="0" cy="12170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40" name="Image 39">
            <a:extLst>
              <a:ext uri="{FF2B5EF4-FFF2-40B4-BE49-F238E27FC236}">
                <a16:creationId xmlns:a16="http://schemas.microsoft.com/office/drawing/2014/main" id="{43AC0C5C-CA61-4020-839A-177137901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V="1">
            <a:off x="3389819" y="1613628"/>
            <a:ext cx="2248360" cy="886697"/>
          </a:xfrm>
          <a:prstGeom prst="rect">
            <a:avLst/>
          </a:prstGeom>
        </p:spPr>
      </p:pic>
      <p:sp>
        <p:nvSpPr>
          <p:cNvPr id="41" name="ZoneTexte 40">
            <a:extLst>
              <a:ext uri="{FF2B5EF4-FFF2-40B4-BE49-F238E27FC236}">
                <a16:creationId xmlns:a16="http://schemas.microsoft.com/office/drawing/2014/main" id="{34467B7D-7953-4AC8-9C81-293AB84ED0FA}"/>
              </a:ext>
            </a:extLst>
          </p:cNvPr>
          <p:cNvSpPr txBox="1"/>
          <p:nvPr/>
        </p:nvSpPr>
        <p:spPr>
          <a:xfrm>
            <a:off x="3625154" y="7202342"/>
            <a:ext cx="248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F = 20Khz, T = 50us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9C140DB9-E0F1-483A-8A2F-A7906C30E3F3}"/>
              </a:ext>
            </a:extLst>
          </p:cNvPr>
          <p:cNvSpPr txBox="1"/>
          <p:nvPr/>
        </p:nvSpPr>
        <p:spPr>
          <a:xfrm>
            <a:off x="3418171" y="1131225"/>
            <a:ext cx="248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F = 1Khz, T = 1ms</a:t>
            </a:r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5C730C2F-3913-430B-B14E-E199ED68ADF3}"/>
              </a:ext>
            </a:extLst>
          </p:cNvPr>
          <p:cNvSpPr txBox="1"/>
          <p:nvPr/>
        </p:nvSpPr>
        <p:spPr>
          <a:xfrm>
            <a:off x="3737724" y="2635109"/>
            <a:ext cx="248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Synchronisation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B5BB5EE8-537B-44D8-9024-C11592CB53A0}"/>
              </a:ext>
            </a:extLst>
          </p:cNvPr>
          <p:cNvSpPr txBox="1"/>
          <p:nvPr/>
        </p:nvSpPr>
        <p:spPr>
          <a:xfrm>
            <a:off x="6782608" y="3542596"/>
            <a:ext cx="406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IT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B73164CB-97D5-43F1-A463-137FB3BAE15D}"/>
              </a:ext>
            </a:extLst>
          </p:cNvPr>
          <p:cNvSpPr txBox="1"/>
          <p:nvPr/>
        </p:nvSpPr>
        <p:spPr>
          <a:xfrm>
            <a:off x="2042162" y="3529509"/>
            <a:ext cx="1459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TIMR</a:t>
            </a:r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BE6D324-193D-418A-8B9F-4965BD73B859}"/>
              </a:ext>
            </a:extLst>
          </p:cNvPr>
          <p:cNvSpPr txBox="1"/>
          <p:nvPr/>
        </p:nvSpPr>
        <p:spPr>
          <a:xfrm>
            <a:off x="10977937" y="5791202"/>
            <a:ext cx="248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LABVIEW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4A6CBCE-CB50-404D-A077-D4412520A1CC}"/>
              </a:ext>
            </a:extLst>
          </p:cNvPr>
          <p:cNvSpPr/>
          <p:nvPr/>
        </p:nvSpPr>
        <p:spPr>
          <a:xfrm>
            <a:off x="5768350" y="1868844"/>
            <a:ext cx="7421667" cy="4905487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5D0A47FE-A289-4488-91E2-172CBBC92F72}"/>
              </a:ext>
            </a:extLst>
          </p:cNvPr>
          <p:cNvSpPr txBox="1"/>
          <p:nvPr/>
        </p:nvSpPr>
        <p:spPr>
          <a:xfrm>
            <a:off x="8545891" y="1324169"/>
            <a:ext cx="2485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Système à contrôler </a:t>
            </a:r>
          </a:p>
        </p:txBody>
      </p:sp>
      <p:sp>
        <p:nvSpPr>
          <p:cNvPr id="39" name="Text 1">
            <a:extLst>
              <a:ext uri="{FF2B5EF4-FFF2-40B4-BE49-F238E27FC236}">
                <a16:creationId xmlns:a16="http://schemas.microsoft.com/office/drawing/2014/main" id="{B845E68C-FCCF-4A69-81EE-5BE84160A172}"/>
              </a:ext>
            </a:extLst>
          </p:cNvPr>
          <p:cNvSpPr/>
          <p:nvPr/>
        </p:nvSpPr>
        <p:spPr>
          <a:xfrm>
            <a:off x="1747302" y="368000"/>
            <a:ext cx="12235398" cy="64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Système de controle - Commande</a:t>
            </a:r>
            <a:endParaRPr lang="en-US" sz="4150" dirty="0"/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2096E376-2670-4DC1-99BD-D9737204387F}"/>
              </a:ext>
            </a:extLst>
          </p:cNvPr>
          <p:cNvSpPr txBox="1"/>
          <p:nvPr/>
        </p:nvSpPr>
        <p:spPr>
          <a:xfrm>
            <a:off x="12591106" y="7728704"/>
            <a:ext cx="1950394" cy="38302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  <p:cxnSp>
        <p:nvCxnSpPr>
          <p:cNvPr id="46" name="Connecteur droit avec flèche 45">
            <a:extLst>
              <a:ext uri="{FF2B5EF4-FFF2-40B4-BE49-F238E27FC236}">
                <a16:creationId xmlns:a16="http://schemas.microsoft.com/office/drawing/2014/main" id="{30335A24-A685-4F2C-A298-DCE29B13E1C5}"/>
              </a:ext>
            </a:extLst>
          </p:cNvPr>
          <p:cNvCxnSpPr/>
          <p:nvPr/>
        </p:nvCxnSpPr>
        <p:spPr>
          <a:xfrm>
            <a:off x="8071521" y="4925231"/>
            <a:ext cx="230393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658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59500"/>
            <a:ext cx="1174765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Plateformes Matérielle et Logicielle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061805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Hardware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837724" y="2723436"/>
            <a:ext cx="6184106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Les microcontrôleurs STM32 sont au cœur du système, offrant puissance et flexibilité pour assurer la fiabilité et la performance. La carte STM32L476RG est notamment utilisée dans le projet.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2542" y="4524732"/>
            <a:ext cx="3627557" cy="27205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613333" y="2061805"/>
            <a:ext cx="3379470" cy="422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Software</a:t>
            </a: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7613333" y="2723436"/>
            <a:ext cx="6186845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 logiciel LabVIEW permet la simulation, le contrôle et l'interface utilisateur. Le langage C embarqué avec la bibliothèque CMSIS est utilisé pour l'implémentation sur les microcontrôleurs STM32.</a:t>
            </a:r>
            <a:endParaRPr lang="en-US" sz="18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3333" y="4524732"/>
            <a:ext cx="6183154" cy="2676049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483E56F-6469-46C7-AF44-8A2A66DD6EF3}"/>
              </a:ext>
            </a:extLst>
          </p:cNvPr>
          <p:cNvSpPr txBox="1"/>
          <p:nvPr/>
        </p:nvSpPr>
        <p:spPr>
          <a:xfrm>
            <a:off x="12591106" y="7728704"/>
            <a:ext cx="1950394" cy="38302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76618" y="955477"/>
            <a:ext cx="7563564" cy="1328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Implémentation STM32 Micro 1 (Commande)</a:t>
            </a:r>
            <a:endParaRPr lang="en-US" sz="4150" dirty="0"/>
          </a:p>
        </p:txBody>
      </p:sp>
      <p:sp>
        <p:nvSpPr>
          <p:cNvPr id="4" name="Shape 1"/>
          <p:cNvSpPr/>
          <p:nvPr/>
        </p:nvSpPr>
        <p:spPr>
          <a:xfrm>
            <a:off x="6276618" y="2622113"/>
            <a:ext cx="169307" cy="1324928"/>
          </a:xfrm>
          <a:prstGeom prst="roundRect">
            <a:avLst>
              <a:gd name="adj" fmla="val 20004"/>
            </a:avLst>
          </a:prstGeom>
          <a:solidFill>
            <a:srgbClr val="304755"/>
          </a:solidFill>
          <a:ln/>
        </p:spPr>
      </p:sp>
      <p:sp>
        <p:nvSpPr>
          <p:cNvPr id="5" name="Text 2"/>
          <p:cNvSpPr/>
          <p:nvPr/>
        </p:nvSpPr>
        <p:spPr>
          <a:xfrm>
            <a:off x="6784538" y="2622113"/>
            <a:ext cx="3183850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Configuration Timer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6784538" y="3089434"/>
            <a:ext cx="7055644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Paramétrage du PWM à </a:t>
            </a:r>
            <a:r>
              <a:rPr lang="en-US" sz="17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fréquence</a:t>
            </a: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fixe 20Khz.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784538" y="3585924"/>
            <a:ext cx="7055644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Résolution temporelle de 50μs.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615232" y="4172783"/>
            <a:ext cx="169307" cy="1324928"/>
          </a:xfrm>
          <a:prstGeom prst="roundRect">
            <a:avLst>
              <a:gd name="adj" fmla="val 20004"/>
            </a:avLst>
          </a:prstGeom>
          <a:solidFill>
            <a:srgbClr val="304755"/>
          </a:solidFill>
          <a:ln/>
        </p:spPr>
      </p:sp>
      <p:sp>
        <p:nvSpPr>
          <p:cNvPr id="9" name="Text 6"/>
          <p:cNvSpPr/>
          <p:nvPr/>
        </p:nvSpPr>
        <p:spPr>
          <a:xfrm>
            <a:off x="7123152" y="4172783"/>
            <a:ext cx="4472464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Traitement des commandes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7123152" y="4640104"/>
            <a:ext cx="6717030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Réception des consignes via ADC.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7123152" y="5136594"/>
            <a:ext cx="6717030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Ajustement dynamique du rapport cyclique.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953964" y="5723453"/>
            <a:ext cx="169307" cy="1324928"/>
          </a:xfrm>
          <a:prstGeom prst="roundRect">
            <a:avLst>
              <a:gd name="adj" fmla="val 20004"/>
            </a:avLst>
          </a:prstGeom>
          <a:solidFill>
            <a:srgbClr val="304755"/>
          </a:solidFill>
          <a:ln/>
        </p:spPr>
      </p:sp>
      <p:sp>
        <p:nvSpPr>
          <p:cNvPr id="13" name="Text 10"/>
          <p:cNvSpPr/>
          <p:nvPr/>
        </p:nvSpPr>
        <p:spPr>
          <a:xfrm>
            <a:off x="7461885" y="5723453"/>
            <a:ext cx="2656284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Communication</a:t>
            </a:r>
            <a:endParaRPr lang="en-US" sz="2050" dirty="0"/>
          </a:p>
        </p:txBody>
      </p:sp>
      <p:sp>
        <p:nvSpPr>
          <p:cNvPr id="14" name="Text 11"/>
          <p:cNvSpPr/>
          <p:nvPr/>
        </p:nvSpPr>
        <p:spPr>
          <a:xfrm>
            <a:off x="7461885" y="6190774"/>
            <a:ext cx="6378297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Transmission PWM optimisé.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461885" y="6687264"/>
            <a:ext cx="6378297" cy="3611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Réception chaque signaux chaque 1ms.</a:t>
            </a:r>
            <a:endParaRPr lang="en-US" sz="175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74B05FD-5EA3-4B7D-82D2-C3D5B52E660B}"/>
              </a:ext>
            </a:extLst>
          </p:cNvPr>
          <p:cNvSpPr txBox="1"/>
          <p:nvPr/>
        </p:nvSpPr>
        <p:spPr>
          <a:xfrm>
            <a:off x="12591106" y="7728704"/>
            <a:ext cx="1950394" cy="38302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904280"/>
            <a:ext cx="12954952" cy="140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Implémentation STM32 Micro 2 (Émulation)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1872972" y="320397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Acquisition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55347" y="3758488"/>
            <a:ext cx="3851434" cy="1173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Capture des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signaux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PWM </a:t>
            </a:r>
            <a:r>
              <a:rPr lang="en-US" sz="18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synchronisés</a:t>
            </a: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par interruptions externes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131" y="2791063"/>
            <a:ext cx="4534138" cy="4534138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3516" y="3535918"/>
            <a:ext cx="358140" cy="4476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41243" y="3203972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Modélisation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41243" y="3699510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Simulation du comportement du système physique</a:t>
            </a:r>
            <a:endParaRPr lang="en-US" sz="18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8131" y="2791063"/>
            <a:ext cx="4534138" cy="4534138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34388" y="3921681"/>
            <a:ext cx="358140" cy="44767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41243" y="5650587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Génération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41243" y="6146125"/>
            <a:ext cx="385143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Production des signaux de retour vers STM32 Micro 1</a:t>
            </a:r>
            <a:endParaRPr lang="en-US" sz="18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8131" y="2791063"/>
            <a:ext cx="4534138" cy="4534138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8625" y="6132552"/>
            <a:ext cx="358140" cy="44767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72972" y="5842040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dirty="0">
                <a:solidFill>
                  <a:srgbClr val="CAD6DE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Transmission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837724" y="6337578"/>
            <a:ext cx="385143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Envoi des données vers LabVIEW</a:t>
            </a:r>
            <a:endParaRPr lang="en-US" sz="18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48131" y="2791063"/>
            <a:ext cx="4534138" cy="4534138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7753" y="5746790"/>
            <a:ext cx="358140" cy="447675"/>
          </a:xfrm>
          <a:prstGeom prst="rect">
            <a:avLst/>
          </a:prstGeom>
        </p:spPr>
      </p:pic>
      <p:sp>
        <p:nvSpPr>
          <p:cNvPr id="19" name="ZoneTexte 18">
            <a:extLst>
              <a:ext uri="{FF2B5EF4-FFF2-40B4-BE49-F238E27FC236}">
                <a16:creationId xmlns:a16="http://schemas.microsoft.com/office/drawing/2014/main" id="{9E46FB38-7FEB-4DF9-AD02-6E7839775AFC}"/>
              </a:ext>
            </a:extLst>
          </p:cNvPr>
          <p:cNvSpPr txBox="1"/>
          <p:nvPr/>
        </p:nvSpPr>
        <p:spPr>
          <a:xfrm>
            <a:off x="12591106" y="7728704"/>
            <a:ext cx="1950394" cy="38302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1748" y="512088"/>
            <a:ext cx="6574869" cy="5478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Résultats Expérimentaux</a:t>
            </a:r>
            <a:endParaRPr lang="en-US" sz="3450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264098C-1C15-43A6-BE45-210FD0DB71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1995" y="1270277"/>
            <a:ext cx="8235448" cy="6910086"/>
          </a:xfrm>
          <a:prstGeom prst="rect">
            <a:avLst/>
          </a:prstGeom>
        </p:spPr>
      </p:pic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48" y="1432322"/>
            <a:ext cx="13326904" cy="676394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51748" y="8405693"/>
            <a:ext cx="13326904" cy="2978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Les tests montrent une bonne corrélation entre la </a:t>
            </a:r>
            <a:r>
              <a:rPr lang="en-US" sz="1450" dirty="0" err="1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commande</a:t>
            </a:r>
            <a:r>
              <a:rPr lang="en-US" sz="14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 et la réponse simulée.</a:t>
            </a:r>
            <a:endParaRPr lang="en-US" sz="1450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8EDF5D3-16C6-422E-A92D-81F26373E5B1}"/>
              </a:ext>
            </a:extLst>
          </p:cNvPr>
          <p:cNvSpPr txBox="1"/>
          <p:nvPr/>
        </p:nvSpPr>
        <p:spPr>
          <a:xfrm>
            <a:off x="13978652" y="7728704"/>
            <a:ext cx="562848" cy="38302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2467928"/>
            <a:ext cx="9106972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Conclusion et Perspectives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3770233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Réalisations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436149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Prototype fonctionnel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837724" y="48282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Communication stable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837724" y="529494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Émulation temps réel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7614761" y="3770233"/>
            <a:ext cx="314122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Prochaines étapes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14761" y="436149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Migration vers Typhoon HIL</a:t>
            </a:r>
            <a:endParaRPr lang="en-US" sz="1850" dirty="0"/>
          </a:p>
        </p:txBody>
      </p:sp>
      <p:sp>
        <p:nvSpPr>
          <p:cNvPr id="9" name="Text 7"/>
          <p:cNvSpPr/>
          <p:nvPr/>
        </p:nvSpPr>
        <p:spPr>
          <a:xfrm>
            <a:off x="7614761" y="4828223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Modèles complexes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614761" y="5294948"/>
            <a:ext cx="6185535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CAD6DE"/>
                </a:solidFill>
                <a:latin typeface="Cabin" pitchFamily="34" charset="0"/>
                <a:ea typeface="Cabin" pitchFamily="34" charset="-122"/>
                <a:cs typeface="Cabin" pitchFamily="34" charset="-120"/>
              </a:rPr>
              <a:t>Optimisation des algorithmes</a:t>
            </a:r>
            <a:endParaRPr lang="en-US" sz="1850" dirty="0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D18F290-DD2B-4993-A13E-04496EBBBEBC}"/>
              </a:ext>
            </a:extLst>
          </p:cNvPr>
          <p:cNvSpPr txBox="1"/>
          <p:nvPr/>
        </p:nvSpPr>
        <p:spPr>
          <a:xfrm>
            <a:off x="12591106" y="7728704"/>
            <a:ext cx="1950394" cy="383024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424</Words>
  <Application>Microsoft Office PowerPoint</Application>
  <PresentationFormat>Personnalisé</PresentationFormat>
  <Paragraphs>120</Paragraphs>
  <Slides>11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Calibri</vt:lpstr>
      <vt:lpstr>Arial</vt:lpstr>
      <vt:lpstr>Cabin</vt:lpstr>
      <vt:lpstr>Unbounded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bouab</cp:lastModifiedBy>
  <cp:revision>9</cp:revision>
  <dcterms:created xsi:type="dcterms:W3CDTF">2025-04-29T23:23:31Z</dcterms:created>
  <dcterms:modified xsi:type="dcterms:W3CDTF">2025-05-02T11:48:20Z</dcterms:modified>
</cp:coreProperties>
</file>